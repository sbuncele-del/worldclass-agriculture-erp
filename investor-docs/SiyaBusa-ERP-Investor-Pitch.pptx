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SiyaBusa ERP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SiyaBusa ERP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Software for Growing African Businesses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Seeking: </a:t>
            </a:r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R200,000 Bridge Round (4-Month Runway)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Masaphokati Technologies (Pty) Ltd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 Mid-Market Companies Face an Impossible Choice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560320" cy="228600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Giants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SAP, Oracle, Dynamics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R5M-R50M to implement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18-24 month deployment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Overkill for most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2560320" cy="228600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Basic Tools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QuickBooks, Xero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Accounting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No real ERP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Can't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2560320" cy="228600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Legacy Systems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24688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Sage Desktop, Pastel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On-premise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Limited cloud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High maintenance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African SMEs pay 10-50x more than global competitors for incomplete systems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SiyaBusa ERP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Comprehensive: 25+ integrated modules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Industry-Specific: Healthcare, Mining, Construction, Property, Agriculture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Compliance Built-In: SARS, VAT, PAYE, B-BBEE, POPIA ready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AI-Powered: Natural language queries, intelligent automation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Fast Deployment: 2-4 weeks, not 18 months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Fair Pricing: R980/user/month vs R2,500-R5,000 (SAP)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 Node.js, React, PostgreSQL, AWS Cape Town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Modules | Single Platform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256032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Financial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General Ledger, AP/AR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Cash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Asset Management (IAS 16)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Budget &amp; Forecasting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2011680" cy="256032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97480" y="19202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Inventory &amp; Warehousing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Purchase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Sales &amp; CRM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Manufacturing (BOM)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2011680" cy="256032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People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HR &amp; Payroll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Time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Project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Practice 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371600"/>
            <a:ext cx="2011680" cy="256032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Industries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19202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Healthcare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Mining &amp; Construction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Property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Agriculture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+ 400 REST API Endpoints | Multi-tenant | Mobile Responsive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Underserved Middle Market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SAP/Oracle: R50K-R200K/month — Top 5% only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657600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51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</a:rPr>
              <a:t>THE GAP: 95,000 SA businesses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</a:rPr>
              <a:t>R5M - R100M revenue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</a:rPr>
              <a:t>Outgrown basics, can't afford enterprise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3657600" cy="5486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SiyaBusa: R980/user — WE ARE 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3657600" cy="54864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663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QuickBooks/Xero: Accounting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Target Market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95,000 addressable businesses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10-100 employees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R5M-R100M revenue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Cannot justify R100K+/month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Decision: Owner, FD, Ops Manager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R980 per user per month — Every user pays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4572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Per User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Min Users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Min Monthly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Starter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R980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R4,900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Professional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R931 (5% off)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R9,310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Enterprise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R882 (10% off)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R22,050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Unit Economics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0" y="22860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Cost to serve: R380/user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Margin: R600/user (61%)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Avg customer: 10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= R9,800/month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Break-even: 5-6 customers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vs Competition: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SAP: R2,500-R5,000/user  |  Sage: R1,000-R2,000/user  |  SiyaBusa: R980/user (60% cheaper)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| First Customer Target: May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Current Status (Jan 2026)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Product: 100% complete, deployed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Infrastructure: AWS Cape Town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Codebase: 400+ APIs, 25+ modules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Documentation: Complete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🎯 Status: Pre-revenue, ready to launch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4-Month Plan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286000"/>
          <a:ext cx="3657600" cy="9144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Marketing launch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R35,000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 + lead gen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R42,000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Sales push, demos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R46,000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Sign first customer 🎉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R77,000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SiyaBusa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SAP/Oracle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Sage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QuickBooks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Mid-market SME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Enterprise R1B+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SME/Mid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Micro/Small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 User/Mo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R980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R2,500-R5,000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R1,000-R2,000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Deploy Time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2-4 weeks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6-18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 day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Modules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25+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100+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15+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SA Compliance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✅ Built-in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❌ Custom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⚠️ 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⚠️ Basic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Cloud Native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⚠️ Hybrid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❌ Desktop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AI Features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✅ Yes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✅ Premium $$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❌ 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Our Advantage: Right-sized, SA-first, Modern tech, Fast, 60% cheaper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R200,000 Bridge Round | 4-Month Runway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4572000" cy="9144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Development &amp; Operations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R82,500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41%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Marketing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R35,500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Infrastructure (AWS)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R27,500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Customer Operations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R19,500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Legal &amp; Compliance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R14,000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Business Setup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R9,500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Contingency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R11,500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R200,000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Milestones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0" y="22860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First paying customer by May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R7,840+ MRR (8 users)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Break-even path validated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Ready for seed round (R2M-R5M)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Growth Path (R980/User)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Avg Users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MRR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ARR Run Rate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May 2026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R7,840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R94K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Aug 2026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R29,400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R353K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Dec 2026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R78,400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R941K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Jun 2027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R235,200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R2.8M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Dec 2027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R588,000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R7.1M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28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Break-even: 5-6 customers (Q3 2026)  |  Gross Margin: 61%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Founder &amp; CEO: Sibusiso Buncele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Full-stack developer with ERP domain expertise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Built entire system: 400+ APIs, 25+ modules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9 months from concept to production-ready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Vision: Democratize enterprise software for Africa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Immediate Hires (Post-Funding)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CTO/Tech Lead (Month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Sales Manager (Month 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Customer Success (Month 3)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Terms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R200,000 Bridge Round | Flexible Terms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Option A: Convertible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12-month term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0% interest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20% discount to seed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Auto-convert at &gt;R2M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2560320" cy="228600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Option B: SAFE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R5M valuation cap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20% discount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Pro-rata rights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MFN clause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828800"/>
            <a:ext cx="2560320" cy="2286000"/>
          </a:xfrm>
          <a:prstGeom prst="roundRect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Option C: Equity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R200,000 for 4%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R5M pre-money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Board observer seat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Full shareholder rights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What Investors Get: Weekly updates, early access, pro-rata for seed round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1. Product is DONE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Not a mockup — full production ERP on AWS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2. Market is READY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Post-COVID digitization wave accelerating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3. Competition is EXPENSIVE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SAP/Oracle haven't adjusted for SME market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4. Compliance MANDATES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SARS e-filing, POPIA driving software adoption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5. Gap EXISTS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Sage stuck on desktop, Odoo limited SA presence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Together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What We Need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R200,000 bridge capital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Strategic advisors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Intros to beta partners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What You Get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Early entry at R5M cap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Weekly progress updates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Pro-rata for seed round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Proof before larger commit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Review  →  2. Demo  →  3. Meet  →  4. Decide (2-week close)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AA"/>
                </a:solidFill>
              </a:rPr>
              <a:t>"We rule. We govern. We empower."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Sibusiso Buncele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Founder &amp; CEO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Masaphokati Technologies (Pty) Ltd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info@masaphokati.co.za  |  siyabusaerp.co.za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Masaphokati Technologies (Pty)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SiyaBusa ERP - Investor Pitch Deck</dc:title>
  <dc:subject>Investment Opportunity</dc:subject>
  <dc:creator>Masaphokati Technologies</dc:creator>
  <cp:lastModifiedBy>Masaphokati Technologies</cp:lastModifiedBy>
  <cp:revision>1</cp:revision>
  <dcterms:created xsi:type="dcterms:W3CDTF">2026-01-29T17:13:47Z</dcterms:created>
  <dcterms:modified xsi:type="dcterms:W3CDTF">2026-01-29T17:13:47Z</dcterms:modified>
</cp:coreProperties>
</file>